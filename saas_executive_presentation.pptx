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SaaS Monthly Metrics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ADCFC"/>
                </a:solidFill>
                <a:latin typeface="Calibri"/>
              </a:rPr>
              <a:t>Data-Driven Insights for Strategic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0A0"/>
                </a:solidFill>
                <a:latin typeface="Calibri"/>
              </a:rPr>
              <a:t>Prepared: March 17,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2179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0A0"/>
                </a:solidFill>
                <a:latin typeface="Calibri"/>
              </a:rPr>
              <a:t>CONFIDENTIAL  |  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saas_monthly_metrics.csv  |  Jan 2023 – Jun 2025  |  480 records  |  12 fields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0881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858000"/>
                <a:gridCol w="182880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 Name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 Type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Reporting month (monthly granularity)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datetime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Geographic sales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Subscription plan tier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new_subscribers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New subscribers added in the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churned_subscribers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Subscribers lost in the month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active_subscribers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Total active subscribers at month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arpu_usd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Average Revenue Per User (USD)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mrr_usd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Monthly Recurring Revenue (USD)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net_revenue_retention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Net Revenue Retention ratio (&gt;1 = expansion)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marketing_spend_usd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Total marketing expenditure (USD)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support_tickets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Number of support tickets opened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04040"/>
                          </a:solidFill>
                          <a:latin typeface="Calibri"/>
                        </a:rPr>
                        <a:t>nps_score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Net Promoter Score (customer satisfaction)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SaaS Monthly Metrics Analysis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Top findings from the SaaS metrics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1.  </a:t>
            </a:r>
            <a:r>
              <a:rPr sz="1450" b="1">
                <a:solidFill>
                  <a:srgbClr val="404040"/>
                </a:solidFill>
                <a:latin typeface="Calibri"/>
              </a:rPr>
              <a:t>Enterprise ARPU is 13.8× higher than Basic ($420 vs $30): </a:t>
            </a:r>
            <a:r>
              <a:rPr sz="1450" b="0">
                <a:solidFill>
                  <a:srgbClr val="404040"/>
                </a:solidFill>
                <a:latin typeface="Calibri"/>
              </a:rPr>
              <a:t>Upselling customers from Basic to Enterprise is the single highest-leverage action to grow revenue.</a:t>
            </a:r>
          </a:p>
          <a:p>
            <a:pPr algn="l"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2.  </a:t>
            </a:r>
            <a:r>
              <a:rPr sz="1450" b="1">
                <a:solidFill>
                  <a:srgbClr val="404040"/>
                </a:solidFill>
                <a:latin typeface="Calibri"/>
              </a:rPr>
              <a:t>North America leads all regions in MRR ($562K/mo avg): </a:t>
            </a:r>
            <a:r>
              <a:rPr sz="1450" b="0">
                <a:solidFill>
                  <a:srgbClr val="404040"/>
                </a:solidFill>
                <a:latin typeface="Calibri"/>
              </a:rPr>
              <a:t>However, it also carries the highest churn (110 subs/mo), creating a retention risk that must be managed alongside growth.</a:t>
            </a:r>
          </a:p>
          <a:p>
            <a:pPr algn="l"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3.  </a:t>
            </a:r>
            <a:r>
              <a:rPr sz="1450" b="1">
                <a:solidFill>
                  <a:srgbClr val="404040"/>
                </a:solidFill>
                <a:latin typeface="Calibri"/>
              </a:rPr>
              <a:t>Net Revenue Retention averages 1.07 overall, reaching 1.12 for Enterprise: </a:t>
            </a:r>
            <a:r>
              <a:rPr sz="1450" b="0">
                <a:solidFill>
                  <a:srgbClr val="404040"/>
                </a:solidFill>
                <a:latin typeface="Calibri"/>
              </a:rPr>
              <a:t>Enterprise customers not only stay—they expand spend, making the tier self-reinforcing.</a:t>
            </a:r>
          </a:p>
          <a:p>
            <a:pPr algn="l"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4.  </a:t>
            </a:r>
            <a:r>
              <a:rPr sz="1450" b="1">
                <a:solidFill>
                  <a:srgbClr val="404040"/>
                </a:solidFill>
                <a:latin typeface="Calibri"/>
              </a:rPr>
              <a:t>Support tickets and churn are strongly correlated (r = +0.84): </a:t>
            </a:r>
            <a:r>
              <a:rPr sz="1450" b="0">
                <a:solidFill>
                  <a:srgbClr val="404040"/>
                </a:solidFill>
                <a:latin typeface="Calibri"/>
              </a:rPr>
              <a:t>Ticket volume is a leading indicator of churn risk; investing in proactive support can directly reduce subscriber loss.</a:t>
            </a:r>
          </a:p>
          <a:p>
            <a:pPr algn="l"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5.  </a:t>
            </a:r>
            <a:r>
              <a:rPr sz="1450" b="1">
                <a:solidFill>
                  <a:srgbClr val="404040"/>
                </a:solidFill>
                <a:latin typeface="Calibri"/>
              </a:rPr>
              <a:t>Marketing spend shows a meaningful positive correlation with new subscriber acquisition (r = +0.64): </a:t>
            </a:r>
            <a:r>
              <a:rPr sz="1450" b="0">
                <a:solidFill>
                  <a:srgbClr val="404040"/>
                </a:solidFill>
                <a:latin typeface="Calibri"/>
              </a:rPr>
              <a:t>Spend is working, but channel-level attribution analysis is needed to maximise ROI.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SaaS Monthly Metrics Analysis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Revenue Growth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Monthly Recurring Revenue by region  |  Jan 2023 – Jun 2025</a:t>
            </a:r>
          </a:p>
        </p:txBody>
      </p:sp>
      <p:pic>
        <p:nvPicPr>
          <p:cNvPr id="5" name="Picture 4" descr="viz_01_mr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955279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66760" y="1097280"/>
            <a:ext cx="3566160" cy="52120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691640"/>
            <a:ext cx="340156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North America consistently leads MRR, reaching $2.9M in Jun 2025.</a:t>
            </a:r>
          </a:p>
          <a:p>
            <a:pPr algn="l">
              <a:spcAft>
                <a:spcPts val="12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Enterprise plan growth drives an exponential curve from mid-2024 onwards.</a:t>
            </a:r>
          </a:p>
          <a:p>
            <a:pPr algn="l">
              <a:spcAft>
                <a:spcPts val="12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MENA is the smallest region but shows steady, proportional growth.</a:t>
            </a:r>
          </a:p>
          <a:p>
            <a:pPr algn="l">
              <a:spcAft>
                <a:spcPts val="12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All regions exhibit positive MRR trajectories—no region is in decline.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SaaS Monthly Metrics Analysis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Subscriber Acquisition vs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Monthly new and churned subscriber volumes across all regions and plans</a:t>
            </a:r>
          </a:p>
        </p:txBody>
      </p:sp>
      <p:pic>
        <p:nvPicPr>
          <p:cNvPr id="5" name="Picture 4" descr="viz_02_subscrib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955279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66760" y="1097280"/>
            <a:ext cx="3566160" cy="52120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691640"/>
            <a:ext cx="340156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New subscriber volumes remain consistently above churn throughout the period.</a:t>
            </a:r>
          </a:p>
          <a:p>
            <a:pPr algn="l">
              <a:spcAft>
                <a:spcPts val="12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Churn is highest among Basic plan customers—the most price-sensitive segment.</a:t>
            </a:r>
          </a:p>
          <a:p>
            <a:pPr algn="l">
              <a:spcAft>
                <a:spcPts val="12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A seasonal uptick in new subs is visible in Q1 each year, suggesting campaign effectiveness.</a:t>
            </a:r>
          </a:p>
          <a:p>
            <a:pPr algn="l">
              <a:spcAft>
                <a:spcPts val="12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The gap between acquisition and churn has widened in 2025, indicating improving retention.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SaaS Monthly Metrics Analysis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Net Revenue Retention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NRR by region and month  |  Values &gt;1.0 indicate net expansion revenue</a:t>
            </a:r>
          </a:p>
        </p:txBody>
      </p:sp>
      <p:pic>
        <p:nvPicPr>
          <p:cNvPr id="5" name="Picture 4" descr="viz_03_reten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7955279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66760" y="1097280"/>
            <a:ext cx="3566160" cy="5212080"/>
          </a:xfrm>
          <a:prstGeom prst="rect">
            <a:avLst/>
          </a:prstGeom>
          <a:solidFill>
            <a:srgbClr val="F4F7FF"/>
          </a:solidFill>
          <a:ln w="63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234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691640"/>
            <a:ext cx="340156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All regions maintain NRR above 1.0 throughout the analysis period—a healthy expansion signal.</a:t>
            </a:r>
          </a:p>
          <a:p>
            <a:pPr algn="l">
              <a:spcAft>
                <a:spcPts val="11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NRR ranges from ~1.00 to ~1.16; higher values correspond to Enterprise-heavy months.</a:t>
            </a:r>
          </a:p>
          <a:p>
            <a:pPr algn="l">
              <a:spcAft>
                <a:spcPts val="11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North America and Europe show the strongest and most consistent expansion NRR.</a:t>
            </a:r>
          </a:p>
          <a:p>
            <a:pPr algn="l">
              <a:spcAft>
                <a:spcPts val="11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No region has ever dipped below 0.98 NRR, indicating minimal revenue contraction.</a:t>
            </a:r>
          </a:p>
          <a:p>
            <a:pPr algn="l">
              <a:spcAft>
                <a:spcPts val="11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▸  MENA shows the most variability—worth monitoring for stabilisation.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SaaS Monthly Metrics Analysis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Plan-Tier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ARPU by plan (left) and NPS score distribution by plan (right)</a:t>
            </a:r>
          </a:p>
        </p:txBody>
      </p:sp>
      <p:pic>
        <p:nvPicPr>
          <p:cNvPr id="5" name="Picture 4" descr="viz_06_arpu_by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5897880" cy="5212080"/>
          </a:xfrm>
          <a:prstGeom prst="rect">
            <a:avLst/>
          </a:prstGeom>
        </p:spPr>
      </p:pic>
      <p:pic>
        <p:nvPicPr>
          <p:cNvPr id="6" name="Picture 5" descr="viz_04_nps_by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71500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SaaS Monthly Metrics Analysis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236208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E2761"/>
                </a:solidFill>
                <a:latin typeface="Calibri"/>
              </a:rPr>
              <a:t>Enterprise delivers $420 ARPU (13.8× Basic) and the highest NPS (38.3 avg). Even moving a Basic customer to Pro doubles revenue per seat with minimal support overhead.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Marketing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Spend vs acquisition (left) and spend allocation by region &amp; plan (right)</a:t>
            </a:r>
          </a:p>
        </p:txBody>
      </p:sp>
      <p:pic>
        <p:nvPicPr>
          <p:cNvPr id="5" name="Picture 4" descr="viz_05_marketing_vs_su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5897880" cy="5212080"/>
          </a:xfrm>
          <a:prstGeom prst="rect">
            <a:avLst/>
          </a:prstGeom>
        </p:spPr>
      </p:pic>
      <p:pic>
        <p:nvPicPr>
          <p:cNvPr id="6" name="Picture 5" descr="viz_10_marketing_by_region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71500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SaaS Monthly Metrics Analysis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236208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E2761"/>
                </a:solidFill>
                <a:latin typeface="Calibri"/>
              </a:rPr>
              <a:t>Marketing spend correlates positively with new subscriber acquisition (r = +0.64). North America receives the largest budget share, consistent with its highest subscriber intake.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Operational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Support ticket vs churn trends (left) and latest-month MRR distribution (right)</a:t>
            </a:r>
          </a:p>
        </p:txBody>
      </p:sp>
      <p:pic>
        <p:nvPicPr>
          <p:cNvPr id="5" name="Picture 4" descr="viz_08_tickets_vs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5897880" cy="5212080"/>
          </a:xfrm>
          <a:prstGeom prst="rect">
            <a:avLst/>
          </a:prstGeom>
        </p:spPr>
      </p:pic>
      <p:pic>
        <p:nvPicPr>
          <p:cNvPr id="6" name="Picture 5" descr="viz_09_mrr_share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71500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SaaS Monthly Metrics Analysis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236208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E2761"/>
                </a:solidFill>
                <a:latin typeface="Calibri"/>
              </a:rPr>
              <a:t>Support tickets and churn move in lockstep (r = +0.84). Reducing ticket volume is a direct lever on churn. North America accounts for the largest MRR share in the latest month.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01  </a:t>
            </a:r>
            <a:r>
              <a:rPr sz="1500" b="1">
                <a:solidFill>
                  <a:srgbClr val="FFFFFF"/>
                </a:solidFill>
                <a:latin typeface="Calibri"/>
              </a:rPr>
              <a:t>Accelerate Enterprise upsell programme: </a:t>
            </a:r>
            <a:r>
              <a:rPr sz="1500" b="0">
                <a:solidFill>
                  <a:srgbClr val="CADCFC"/>
                </a:solidFill>
                <a:latin typeface="Calibri"/>
              </a:rPr>
              <a:t>With 13.8× ARPU vs Basic, converting even 5% of Basic customers per quarter materially compounds MRR.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02  </a:t>
            </a:r>
            <a:r>
              <a:rPr sz="1500" b="1">
                <a:solidFill>
                  <a:srgbClr val="FFFFFF"/>
                </a:solidFill>
                <a:latin typeface="Calibri"/>
              </a:rPr>
              <a:t>Deploy a churn early-warning system: </a:t>
            </a:r>
            <a:r>
              <a:rPr sz="1500" b="0">
                <a:solidFill>
                  <a:srgbClr val="CADCFC"/>
                </a:solidFill>
                <a:latin typeface="Calibri"/>
              </a:rPr>
              <a:t>Support ticket volume predicts churn (r = +0.84). Automate escalation when tickets spike in a region.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03  </a:t>
            </a:r>
            <a:r>
              <a:rPr sz="1500" b="1">
                <a:solidFill>
                  <a:srgbClr val="FFFFFF"/>
                </a:solidFill>
                <a:latin typeface="Calibri"/>
              </a:rPr>
              <a:t>Invest in North America retention: </a:t>
            </a:r>
            <a:r>
              <a:rPr sz="1500" b="0">
                <a:solidFill>
                  <a:srgbClr val="CADCFC"/>
                </a:solidFill>
                <a:latin typeface="Calibri"/>
              </a:rPr>
              <a:t>Highest MRR but also highest churn. A targeted win-back or success programme could unlock significant incremental revenue.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04  </a:t>
            </a:r>
            <a:r>
              <a:rPr sz="1500" b="1">
                <a:solidFill>
                  <a:srgbClr val="FFFFFF"/>
                </a:solidFill>
                <a:latin typeface="Calibri"/>
              </a:rPr>
              <a:t>Stabilise MENA NRR: </a:t>
            </a:r>
            <a:r>
              <a:rPr sz="1500" b="0">
                <a:solidFill>
                  <a:srgbClr val="CADCFC"/>
                </a:solidFill>
                <a:latin typeface="Calibri"/>
              </a:rPr>
              <a:t>Most volatile region. Investigate product-market fit, local pricing, and customer success resourcing.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05  </a:t>
            </a:r>
            <a:r>
              <a:rPr sz="1500" b="1">
                <a:solidFill>
                  <a:srgbClr val="FFFFFF"/>
                </a:solidFill>
                <a:latin typeface="Calibri"/>
              </a:rPr>
              <a:t>Conduct marketing channel attribution: </a:t>
            </a:r>
            <a:r>
              <a:rPr sz="1500" b="0">
                <a:solidFill>
                  <a:srgbClr val="CADCFC"/>
                </a:solidFill>
                <a:latin typeface="Calibri"/>
              </a:rPr>
              <a:t>Overall spend-to-acquisition correlation is strong (+0.64), but channel-level ROI data is needed to optimise the mix.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A0A0"/>
                </a:solidFill>
                <a:latin typeface="Calibri"/>
              </a:rPr>
              <a:t>SaaS Monthly Metrics Analysis  |  March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